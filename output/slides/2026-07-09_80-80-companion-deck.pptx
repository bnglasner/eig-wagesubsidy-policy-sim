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43" d="100"/>
          <a:sy n="243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380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deck to the 2026-07-09 combined brief and appendix. All figures and numbers are from the EIG 80-80 wage subsidy simulation, 2026 (CPS ORG May 2025–May 2026; PolicyEngine-US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Headline. 15.9M reached; $45–48B net; 1.49M new entrants (conservative floor ~1.0M, joint upper corner 3.81M) plus ~0.19–0.28M FTE from part-timers extending hours. Cost is the firm result; entry is the wider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= 80% of the $21.00 paid-hourly median = $16.80. $7.25 is the lowest creditable base wage (anti-fraud). Every dollar of employer raise still lifts take-home pay. Updated data: CPS May 2025–May 2026 ($21.00 median vs. the posts' $20).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Gross $55.9B → net $45.1B (static). Government recaptures payroll and income taxes and banks SNAP/Medicaid/TANF savings; partly offset by higher ACA premium tax credits (+24.9% of gross). The ACA interaction is real and any serious estimate must carry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estimate: ~$57–$64B gross, $45–$48B net, plus up to ~$2B if part-timers extend hours. Getting outside that range requires the implausible all-wages-renegotiate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Static, reduced-form, and structural models all cluster in $45–48B net. Only the all-wages-renegotiate bound escapes it — and that contradicts the wage-rigidity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column of Table 2 (share of each group's paid-hourly workers) reframes the story: where the money pools vs. how deeply it reaches. Overall take-up is 21.7% of the paid-hourly workforce.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annual subsidy by wage band: $7.25–9 → $10,281; $9–11 → $7,867; $11–13 → $5,793; $13–16.80 → $2,206. Steeply progressive within the eligible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subsidy: Louisiana $4,981, Mississippi $4,990, vs. California $2,392. No commission picks winners — the formula finds distressed places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the denominator: 59M non-employed adults overstates who a wage can reach — ~7M unemployed searching, ~34M out for other reasons (half ages 16–24, in school), ~10M unable to work, ~9M retired. A realistic wage-responsive pool is closer to 10–15M.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Floor applies NO wage penalty (a conservative choice, not neutral — offer-decay evidence rules out zero). Evidence-central adds a modest ~10% status-differentiated penalty. High corner stacks all three uncertain axes upward.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marks scale the nearest precedents to our pool: 1990s EITC (~0.9M scaled, below our floor), Paycheck Plus NYC/Atlanta, the Canadian Self-Sufficiency Project. Our 1.49M sits between the Paycheck Plus demonstrations and SSP's exceptional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a third of entrants are unemployed job-seekers (monthly job-finding rates 5–6x other non-participants). The disabled and retired — a third of the non-employed — are ~3% of entrants. Male entry is real but modest: ~180K central (~120K floor), up to ~800K high; the broader prime-age male non-employment crisis is rooted in health and disability a wage cannot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47.8% of the non-employed pool draws imputed offers below $16.80, vs. 21.7% of paid-hourly workers. Negative selection, as expected — but most of the pool is beyond the subsidy's reach. Offers are modeled as distributions, not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Male non-employment motivated the first post. Male entry is real but modest — ~180K central, ~120K floor, up to ~800K high. Reach the men a wage can reach; the broader crisis needs complementary tools. Report it straight.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sticky incumbent wages, firms capture ~3% at the central bargaining split, ≤4% across the range. The $7.25 floor caps how far firms can push cash wages down. Disclosed worst case (all wages renegotiate): gross up to $109B, firm capture ~58% — a bound,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Marginal cost per entrant: ~$5,300 gross / ~$3,900 net (entrants work part-time/part-year). Even charging the entire net cost to entrants yields ~$32,000 per job — below state/local incentives ($106K–$196K), far below Buy American ($154K+) and steel tariffs (~$900K). And the 'overhead' here is a raise for a fifth of hourly workers, not deadweight.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representative single-parent household, net income climbs with earnings then drops where Medicaid and other benefits phase out. Roughly one in eight modeled entrants clear their threshold only across a benefit cliff.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Pennsylvania single parent, wage fixed at $10/hr, hours 0–3,000. Subsidy adds ~$7,800 net at 20 hrs/wk and ~$5,600 at 40. But it stops growing past its 2,080-hour cap, and added earnings eventually cross the Medicaid and childcare cliffs — beyond ~53 hrs/wk the subsidized household is worse off on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net return to working rises ~18% for single mothers vs. ~27% for other women and ~23% for men. Whether the subsidy counts against SNAP/Medicaid/TANF eligibility is a first-order design choice for Congress — not a detail to delegate.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27-cell grid (penalty × dispersion × elasticity) spans 0.23–3.81M. Effects build over years — these are steady-state levels, not first-year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80-80 pays in full on every added hour up to 40/wk — no phase-out, unlike the EITC. Under consensus elasticities (0.2–0.33), part-time incumbents add 0.19–0.28M FTE, alongside ~0.7M FTE from the entry margin. The hours margin matters nearly as much as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just answered the expensive questions. Cost is firm; entry is a disciplined band; the safety-net treatment is the first-order remaining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note: every result is accounting, transported evidence, or disclosed judgment. No program with the 80-80's exact design has been evaluated, so behavioral parameters are imported from similar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Reported hourly wages heap on round-dollar values, and the $16.80 target sits on a dense stretch — so the eligible count is sensitive to exactly where the target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1AD28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ECONOMIC INNOVATION GROUP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80-80 Rule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3957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2300" dirty="0">
                <a:solidFill>
                  <a:srgbClr val="B3D6D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What a wage subsidy would cost — and how many Americans it could pull back into the workforce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Benjamin Glasner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B9CCC9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Companion deck to the combined policy brief and technical appendix · July </a:t>
            </a:r>
            <a:r>
              <a:rPr lang="en-US" sz="1200" dirty="0">
                <a:solidFill>
                  <a:srgbClr val="B9CCC9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One policy, three results: 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raise, a work-linked support, and more work.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15.9M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252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workers get a per-paycheck raise — about one in ten American workers</a:t>
            </a:r>
            <a:endParaRPr lang="en-US" sz="150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07080" y="187452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94F8B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$45–48B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307080" y="2834640"/>
            <a:ext cx="252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net federal cost per year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56960" y="1874520"/>
            <a:ext cx="252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1.49M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156960" y="2834640"/>
            <a:ext cx="252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non-workers drawn into jobs (floor ~1.0M), plus ~200K FTE of added hours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 QUICK REFRESHER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Cover 80% of the gap to 80% of the median wage of hourly workers.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Target = 80% of the $21.00 paid-hourly median; $7.25 is the lowest creditable base wage.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1_subsidy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1AD2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What does it cost?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3D6DD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Start static, then let people respond. Reduced-form and structural models land in nearly the same place.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DOES IT COST?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Taxes and safety-net savings cut the cost from $56B gross to $45B net.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Recaptured taxes and SNAP/Medicaid savings, partly offset by higher ACA premium credits.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2_cost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DOES IT COST?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Net cost lands at $45–48B across every modeling approach.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633472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Scenario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Gross ($B/yr)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Net ($B/yr)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Static (no behavioral response)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55.9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45.1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Reduced-form, lower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57.3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45.9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Reduced-form, central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59.8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46.7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Reduced-form, upper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63.6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47.6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Structural, sticky incumbent wages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59.6–60.7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47.4–48.4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Incumbent hours response (adds to any row)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+0.5 to +2.4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+0.2 to +1.3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Incidence upper bound (all wages renegotiate)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up to 109.1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—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Net = gross minus federal tax recapture and safety-net offsets. Final row is a disclosed bound, not a forecast. Source: EIG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DOES IT COST?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Only wholesale wage renegotiation escapes the $45–48B net range.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Static, reduced-form, and structural models all cluster in the $45–48B net range.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13_cost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1AD2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Who gets the money?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3D6DD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eligible population looks like the low-wage workforce, because it is the low-wage workforce.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WHO GETS THE MONEY?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It reaches deepest among women, the young, and the least credentialed.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Dashed line: overall take-up, 21.7% of the paid-hourly workforce.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3_takeup_by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3688572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1737360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Women: 26.2% take-up vs. 17.2% for men; women are 60.5% of recipients.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Ages 16–24: 43.0% qualify — the highest take-up of any group.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Less than high school: 37.4% qualify, vs. 6.8% with a graduate degree.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Single parents: 23.5% qualify, well above married parents (13.5%).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WHO GETS THE MONEY?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lowest-wage workers receive the largest checks — by construction.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Average annual subsidy runs from $10,281 at $7.25–9 down to $2,206 at $13–16.80.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4_subsidy_by_w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WHO GETS THE MONEY?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Because the target is national, money flows to lagging labor markets.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Average annual subsidy per eligible worker, by state.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5_avg_subsidy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3904488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1737360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Louisiana $4,981 and Mississippi $4,990 per eligible worker.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California $2,392 — less than half.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Louisiana: 317K eligible; West Virginia 105K averaging $4,229.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 commission picks winners — the formula finds distressed places.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1AD2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Does it pull people into work — and how many?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3D6DD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simulation's genuinely new contribution: the first structural estimates of labor-force entry.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DOES IT PULL PEOPLE INTO WORK?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subsidy exists to clear a worker's entry threshold.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employer's offer alone falls short; the subsidy lifts total pay over the worker's reservation wage.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6_reservation_w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DOES IT PULL PEOPLE INTO WORK?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1.49 million enter work at the evidence-central estimate.</a:t>
            </a:r>
            <a:endParaRPr lang="en-US" sz="2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417320"/>
          <a:ext cx="6583680" cy="263347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Scenario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New entrants (millions)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Conservative floor (no wage penalty)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1.02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A3A3A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Evidence-central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024140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1.49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High (joint upper corner)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3.81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Full range across the parameter grid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0.23–3.81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i="1" dirty="0">
                          <a:solidFill>
                            <a:srgbClr val="3A3A3A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Evidence-central, by group — single mothers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0.24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i="1" dirty="0">
                          <a:solidFill>
                            <a:srgbClr val="3A3A3A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Evidence-central, by group — other women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1.07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i="1" dirty="0">
                          <a:solidFill>
                            <a:srgbClr val="3A3A3A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Evidence-central, by group — men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0.18</a:t>
                      </a:r>
                      <a:endParaRPr lang="en-US" sz="12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80160" y="45902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Headline scenarios are internally-consistent parameter bundles, not single-lever excursions. Source: EIG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DOES IT PULL PEOPLE INTO WORK?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Entry by group, benchmarked against the closest real-world precedents.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1.49M central (floor 1.02M, high 3.81M) — between Paycheck Plus and the Self-Sufficiency Project.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7_entry_band_by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DOES IT PULL PEOPLE INTO WORK?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Barely any entrants are disabled or retired — they are job-seekers and other non-participants.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About a third are unemployed searchers; the disabled and retired are ~3% of entrants.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7b_entrants_by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DOES IT PULL PEOPLE INTO WORK?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Nearly half the non-employed would earn below the target — more than double the rate among workers.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47.8% of the pool draws offers below $16.80, vs. 21.7% of paid-hourly workers.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8_pool_wag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DOES IT PULL PEOPLE INTO WORK?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What about men? A wage subsidy reaches the men a wage can reach.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~180K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male entrants at the evidence-central estimate — about 120K at the conservative floor, up to ~800K in the high 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Roughly half of prime-age men out of the labor force report a serious health condition, and a quarter to a third receive disability benefits — barriers a higher wage does not remove.</a:t>
            </a:r>
            <a:endParaRPr lang="en-US" sz="15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subsidy reaches the men a wage can move — disproportionately unemployed job-seekers and the most disadvantaged. The broader prime-age male non-employment crisis, much of it rooted in health and demand-side exclusion, needs complementary tools. We would rather report that straight than oversell the policy.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1AD2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Is it worth it?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3D6DD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Employers keep almost none of it — and each new job costs a fraction of the alternatives we already fund.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IS IT WORTH IT?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 — firms keep about 3% of the subsidy under realistic wage stickiness.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No more than ~4% across bargaining assumptions; the $7.25 floor caps how far wages can fall.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09_firm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IS IT WORTH IT?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Cost per new job undercuts the job-creation policies we already run.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~$5,300 marginal; ~$32K fully loaded vs. $154K+ Buy American and ~$900K steel tariffs.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10_cost_per_j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1AD2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Does it play badly with the safety net?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3D6DD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subsidy has no cliff of its own — but it inherits everyone else's.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SAFETY-NET CLAWBACK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subsidy has no cliff of its own — but it inherits everyone else's.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Net income climbs with earnings, then drops where Medicaid and other benefits phase out.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11_benefit_cl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SAFETY-NET CLAWBACK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Past ~53 hours a week, the clawback can swallow the subsidy.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subsidy adds ~$7,800 net at 20 hrs/wk and ~$5,600 at 40; it caps at 2,080 hours a year.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11b_net_income_by_h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SAFETY-NET CLAWBACK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Single mothers gain the least net value from working — half is clawed back.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Median net return to working rises ~18% for single mothers vs. ~27% and ~23% for others.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12_clawback_net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1AD2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06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How sure are you?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3D6DD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Cost is the firm result. Entry is the wider band — and we vary its drivers jointly, not one at a time.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HOW SURE ARE YOU?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Entry spans 0.23–3.81M; the wage penalty is the single largest lever.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27-cell grid: penalty × dispersion × elasticity.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14_mpl_uncertain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3067812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1737360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Cost is the firm result: $45–48B net across all three models.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Entry is the wider band — we vary its three drivers jointly, not one at a time.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Drivers: participation elasticity, offer dispersion, and the non-employment wage penalty.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We headline the evidence-central because a zero wage penalty is the one setting the evidence rules out.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HOW SURE ARE YOU?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second margin: part-timers add up to ~280K full-time-equivalents.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Consensus elasticities (0.2–0.33) give 0.19–0.28M FTE, alongside ~0.7M FTE from entry.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15_hours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1AD28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BOTTOM 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For $45–48B net a year, the 80-80 rule raises pay for 15.9M workers and expands work on two margins.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EECD6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Largest checks go to the poorest workers and the most distressed states.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EECD6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~1.49M new entrants (floor ~1.0M; up to 3.81M) plus ~200K FTE of added part-time hours.</a:t>
            </a:r>
            <a:endParaRPr lang="en-US" sz="145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EECD6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Marginal cost per new job is a few thousand dollars; fully-loaded ~$32K still beats the incentives we already run.</a:t>
            </a:r>
            <a:endParaRPr lang="en-US" sz="1450" dirty="0"/>
          </a:p>
          <a:p>
            <a:pPr marL="203200" indent="-203200">
              <a:lnSpc>
                <a:spcPct val="103000"/>
              </a:lnSpc>
              <a:buSzPct val="100000"/>
              <a:buChar char="•"/>
            </a:pPr>
            <a:r>
              <a:rPr lang="en-US" sz="1450" dirty="0">
                <a:solidFill>
                  <a:srgbClr val="FEECD6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open question is deliberate: whether the subsidy counts against means-tested benefits — a choice for statute.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CC9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Explore the interactive model: </a:t>
            </a:r>
            <a:r>
              <a:rPr lang="en-US" sz="1300" b="1" dirty="0">
                <a:solidFill>
                  <a:srgbClr val="E1AD28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eig-wage-subsidy.streamlit.app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1AD2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Technical appendix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3D6DD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machinery behind every number: accounting, transported evidence, and disclosed judgment.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TECHNICAL APPENDIX · THE 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CPS ORG, May 2025–May 2026: $21.00 median, $16.80 target.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212080" cy="192024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From the hourly workforce to the eligible population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Workers (M)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Employed with an observed hourly wage, ages 16–64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137.2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Paid by the hour (excludes salaried workers)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76.0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Less dependent children under 19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Open Sans Light" pitchFamily="34" charset="0"/>
                          <a:ea typeface="Open Sans Light" pitchFamily="34" charset="-122"/>
                          <a:cs typeface="Open Sans Light" pitchFamily="34" charset="-120"/>
                        </a:rPr>
                        <a:t>73.3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Earning below the $16.80 target — eligible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24140"/>
                          </a:solidFill>
                          <a:latin typeface="Open Sans ExtraBold" pitchFamily="34" charset="0"/>
                          <a:ea typeface="Open Sans ExtraBold" pitchFamily="34" charset="-122"/>
                          <a:cs typeface="Open Sans ExtraBold" pitchFamily="34" charset="-120"/>
                        </a:rPr>
                        <a:t>15.9</a:t>
                      </a:r>
                      <a:endParaRPr lang="en-US" sz="1150" dirty="0">
                        <a:latin typeface="Open Sans Light" charset="0"/>
                        <a:ea typeface="Open Sans Light" charset="0"/>
                        <a:cs typeface="Open Sans Light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46304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24140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Two behavioral models, on purpose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Reduced-form benchmark (EITC/CBO elasticities) and a structural search-and-matching model land within a few $B on net cost — the strongest robustness fact in the project.</a:t>
            </a:r>
            <a:endParaRPr lang="en-US" sz="1400" dirty="0"/>
          </a:p>
          <a:p>
            <a:pPr marL="0" indent="0">
              <a:lnSpc>
                <a:spcPct val="10500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024140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One design assumption runs through everything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subsidy is modeled as taxable income that counts against means-tested eligibility — the conservative reading. We report its consequences rather than assume them away.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Each row is a period-average weighted headcount (EARNWT). Source: EIG simulation, 2026; CPS ORG via IPUMS-CPS.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9644D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TECHNICAL APPENDIX · THE ELIGIBLE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About one in five paid-hourly workers earn below the target.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3A3A3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Reported wages heap on round-dollar values; the $16.80 target sits on a dense stretch.</a:t>
            </a:r>
            <a:endParaRPr lang="en-US" sz="1250" dirty="0"/>
          </a:p>
        </p:txBody>
      </p:sp>
      <p:pic>
        <p:nvPicPr>
          <p:cNvPr id="5" name="Image 0" descr="/Users/benjamin/Documents/GitHub/eig-wagesubsidy-policy-sim/output/figures/slides/figA1_wag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2" y="1737360"/>
            <a:ext cx="641451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Source: Economic Innovation Group 80-80 wage subsidy simulation,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3102</Words>
  <Application>Microsoft Macintosh PowerPoint</Application>
  <PresentationFormat>On-screen Show (16:9)</PresentationFormat>
  <Paragraphs>254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Open Sans</vt:lpstr>
      <vt:lpstr>Open Sans ExtraBold</vt:lpstr>
      <vt:lpstr>Open Sans Light</vt:lpstr>
      <vt:lpstr>Source Serif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Economic Innovation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80-80 Rule: Companion Deck</dc:title>
  <dc:subject>PptxGenJS Presentation</dc:subject>
  <dc:creator>Economic Innovation Group</dc:creator>
  <cp:lastModifiedBy>Benjamin Glasner</cp:lastModifiedBy>
  <cp:revision>2</cp:revision>
  <dcterms:created xsi:type="dcterms:W3CDTF">2026-07-10T01:56:02Z</dcterms:created>
  <dcterms:modified xsi:type="dcterms:W3CDTF">2026-07-10T16:10:04Z</dcterms:modified>
</cp:coreProperties>
</file>